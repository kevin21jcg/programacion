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bae9f2a85b468c" /><Relationship Type="http://schemas.openxmlformats.org/officeDocument/2006/relationships/extended-properties" Target="/docProps/app.xml" Id="Rcf86a24ac56f40be" /><Relationship Type="http://schemas.openxmlformats.org/officeDocument/2006/relationships/officeDocument" Target="/ppt/presentation.xml" Id="R89ea18e1a6a04b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7b9fc03ca3453a"/>
  </p:sldMasterIdLst>
  <p:notesMasterIdLst>
    <p:notesMasterId xmlns:r="http://schemas.openxmlformats.org/officeDocument/2006/relationships" r:id="R6bc8759332524110"/>
  </p:notesMasterIdLst>
  <p:sldIdLst>
    <p:sldId xmlns:r="http://schemas.openxmlformats.org/officeDocument/2006/relationships" id="256" r:id="R15a0ccdea4474443"/>
    <p:sldId xmlns:r="http://schemas.openxmlformats.org/officeDocument/2006/relationships" id="257" r:id="R3ce320e3e6b54bed"/>
    <p:sldId xmlns:r="http://schemas.openxmlformats.org/officeDocument/2006/relationships" id="258" r:id="R9d929b54220a420a"/>
    <p:sldId xmlns:r="http://schemas.openxmlformats.org/officeDocument/2006/relationships" id="259" r:id="R5ab4671533944e00"/>
    <p:sldId xmlns:r="http://schemas.openxmlformats.org/officeDocument/2006/relationships" id="260" r:id="R0456555901f84f2f"/>
    <p:sldId xmlns:r="http://schemas.openxmlformats.org/officeDocument/2006/relationships" id="261" r:id="Ra984384d155f4b79"/>
    <p:sldId xmlns:r="http://schemas.openxmlformats.org/officeDocument/2006/relationships" id="262" r:id="R0e492eea34f043e7"/>
    <p:sldId xmlns:r="http://schemas.openxmlformats.org/officeDocument/2006/relationships" id="263" r:id="R41bcd756c40c400a"/>
    <p:sldId xmlns:r="http://schemas.openxmlformats.org/officeDocument/2006/relationships" id="264" r:id="Rb0fcb07925fb403b"/>
    <p:sldId xmlns:r="http://schemas.openxmlformats.org/officeDocument/2006/relationships" id="265" r:id="Ra7e8014c55ee47fd"/>
    <p:sldId xmlns:r="http://schemas.openxmlformats.org/officeDocument/2006/relationships" id="266" r:id="R1650c93922e6470e"/>
    <p:sldId xmlns:r="http://schemas.openxmlformats.org/officeDocument/2006/relationships" id="267" r:id="R30037d13a3464916"/>
    <p:sldId xmlns:r="http://schemas.openxmlformats.org/officeDocument/2006/relationships" id="268" r:id="Rda1bd67a52054b76"/>
    <p:sldId xmlns:r="http://schemas.openxmlformats.org/officeDocument/2006/relationships" id="269" r:id="Rb83f08ebb03c4249"/>
    <p:sldId xmlns:r="http://schemas.openxmlformats.org/officeDocument/2006/relationships" id="270" r:id="R47946a622e9641d9"/>
    <p:sldId xmlns:r="http://schemas.openxmlformats.org/officeDocument/2006/relationships" id="271" r:id="R7a4d258b263c4e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83f0ae8afe470d" /><Relationship Type="http://schemas.openxmlformats.org/officeDocument/2006/relationships/slideMaster" Target="/ppt/slideMasters/slideMaster1.xml" Id="R207b9fc03ca3453a" /><Relationship Type="http://schemas.openxmlformats.org/officeDocument/2006/relationships/notesMaster" Target="/ppt/notesMasters/notesMaster1.xml" Id="R6bc8759332524110" /><Relationship Type="http://schemas.openxmlformats.org/officeDocument/2006/relationships/presProps" Target="/ppt/presProps.xml" Id="Rb6f5506e2aa7476c" /><Relationship Type="http://schemas.openxmlformats.org/officeDocument/2006/relationships/tableStyles" Target="/ppt/tableStyles.xml" Id="R4fae225bdc374e2a" /><Relationship Type="http://schemas.openxmlformats.org/officeDocument/2006/relationships/slide" Target="/ppt/slides/slide1.xml" Id="R15a0ccdea4474443" /><Relationship Type="http://schemas.openxmlformats.org/officeDocument/2006/relationships/slide" Target="/ppt/slides/slide2.xml" Id="R3ce320e3e6b54bed" /><Relationship Type="http://schemas.openxmlformats.org/officeDocument/2006/relationships/slide" Target="/ppt/slides/slide3.xml" Id="R9d929b54220a420a" /><Relationship Type="http://schemas.openxmlformats.org/officeDocument/2006/relationships/slide" Target="/ppt/slides/slide4.xml" Id="R5ab4671533944e00" /><Relationship Type="http://schemas.openxmlformats.org/officeDocument/2006/relationships/slide" Target="/ppt/slides/slide5.xml" Id="R0456555901f84f2f" /><Relationship Type="http://schemas.openxmlformats.org/officeDocument/2006/relationships/slide" Target="/ppt/slides/slide6.xml" Id="Ra984384d155f4b79" /><Relationship Type="http://schemas.openxmlformats.org/officeDocument/2006/relationships/slide" Target="/ppt/slides/slide7.xml" Id="R0e492eea34f043e7" /><Relationship Type="http://schemas.openxmlformats.org/officeDocument/2006/relationships/slide" Target="/ppt/slides/slide8.xml" Id="R41bcd756c40c400a" /><Relationship Type="http://schemas.openxmlformats.org/officeDocument/2006/relationships/slide" Target="/ppt/slides/slide9.xml" Id="Rb0fcb07925fb403b" /><Relationship Type="http://schemas.openxmlformats.org/officeDocument/2006/relationships/slide" Target="/ppt/slides/slide10.xml" Id="Ra7e8014c55ee47fd" /><Relationship Type="http://schemas.openxmlformats.org/officeDocument/2006/relationships/slide" Target="/ppt/slides/slide11.xml" Id="R1650c93922e6470e" /><Relationship Type="http://schemas.openxmlformats.org/officeDocument/2006/relationships/slide" Target="/ppt/slides/slide12.xml" Id="R30037d13a3464916" /><Relationship Type="http://schemas.openxmlformats.org/officeDocument/2006/relationships/slide" Target="/ppt/slides/slide13.xml" Id="Rda1bd67a52054b76" /><Relationship Type="http://schemas.openxmlformats.org/officeDocument/2006/relationships/slide" Target="/ppt/slides/slide14.xml" Id="Rb83f08ebb03c4249" /><Relationship Type="http://schemas.openxmlformats.org/officeDocument/2006/relationships/slide" Target="/ppt/slides/slide15.xml" Id="R47946a622e9641d9" /><Relationship Type="http://schemas.openxmlformats.org/officeDocument/2006/relationships/slide" Target="/ppt/slides/slide16.xml" Id="R7a4d258b263c4e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8bff7076a04f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4e4a1dfd874455" /><Relationship Type="http://schemas.openxmlformats.org/officeDocument/2006/relationships/notesMaster" Target="/ppt/notesMasters/notesMaster1.xml" Id="R851a68bc2f1547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40bfbb0844440c" /><Relationship Type="http://schemas.openxmlformats.org/officeDocument/2006/relationships/notesMaster" Target="/ppt/notesMasters/notesMaster1.xml" Id="R9f2c74ab746f40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eaddb2326943ef" /><Relationship Type="http://schemas.openxmlformats.org/officeDocument/2006/relationships/notesMaster" Target="/ppt/notesMasters/notesMaster1.xml" Id="R7ce965df944c40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a509fb3f9341d0" /><Relationship Type="http://schemas.openxmlformats.org/officeDocument/2006/relationships/notesMaster" Target="/ppt/notesMasters/notesMaster1.xml" Id="R062434058ed14e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0df25477ed45d7" /><Relationship Type="http://schemas.openxmlformats.org/officeDocument/2006/relationships/notesMaster" Target="/ppt/notesMasters/notesMaster1.xml" Id="Rf9d85274bc4044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5ecddebdfd4d99" /><Relationship Type="http://schemas.openxmlformats.org/officeDocument/2006/relationships/notesMaster" Target="/ppt/notesMasters/notesMaster1.xml" Id="Rdbfda89fc1b541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0e89488d094332" /><Relationship Type="http://schemas.openxmlformats.org/officeDocument/2006/relationships/notesMaster" Target="/ppt/notesMasters/notesMaster1.xml" Id="R3100afc99aa648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2b6581f100434b" /><Relationship Type="http://schemas.openxmlformats.org/officeDocument/2006/relationships/notesMaster" Target="/ppt/notesMasters/notesMaster1.xml" Id="R9bee5abebedb45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6b6009a2e74e5f" /><Relationship Type="http://schemas.openxmlformats.org/officeDocument/2006/relationships/notesMaster" Target="/ppt/notesMasters/notesMaster1.xml" Id="Rfdbeb97bd0ef41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ea464d1e51e4930" /><Relationship Type="http://schemas.openxmlformats.org/officeDocument/2006/relationships/notesMaster" Target="/ppt/notesMasters/notesMaster1.xml" Id="R3f72c91d4b8e4d2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9d88115ce1346bb" /><Relationship Type="http://schemas.openxmlformats.org/officeDocument/2006/relationships/notesMaster" Target="/ppt/notesMasters/notesMaster1.xml" Id="R4ba2e32e41ac4e5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54411e1964b46fc" /><Relationship Type="http://schemas.openxmlformats.org/officeDocument/2006/relationships/notesMaster" Target="/ppt/notesMasters/notesMaster1.xml" Id="Rd8ce4b433b994a1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dea969065ef4306" /><Relationship Type="http://schemas.openxmlformats.org/officeDocument/2006/relationships/notesMaster" Target="/ppt/notesMasters/notesMaster1.xml" Id="R5c1f06e5d3804db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85c81325f1246f4" /><Relationship Type="http://schemas.openxmlformats.org/officeDocument/2006/relationships/notesMaster" Target="/ppt/notesMasters/notesMaster1.xml" Id="R4d9b3aacd8574bc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ae5c2d154c8470a" /><Relationship Type="http://schemas.openxmlformats.org/officeDocument/2006/relationships/notesMaster" Target="/ppt/notesMasters/notesMaster1.xml" Id="R719ee640745e43d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87b2c66b3d94181" /><Relationship Type="http://schemas.openxmlformats.org/officeDocument/2006/relationships/notesMaster" Target="/ppt/notesMasters/notesMaster1.xml" Id="R109e76f167af43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problema de la empresa y explicar que DevTask es el piloto. El segundo integrante y el docente deben registrarse antes de entregar.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instalar herramientas no basta. El equipo necesita acordar cómo se integra un cambio y qué evidencia debe acompañarlo. Caso tomado del enunciado del proyecto.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Git es el control de versiones y GitHub ofrece colaboración. Un commit agrupa una intención. Rebase reescribe commits y debe usarse con cuidado en historia compartida. Fuente: https://git-scm.com/book/en/v2/Git-Branching-Rebasing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elección depende del contexto. Para dos personas y dos semanas proponemos ramas cortas y revisión. No afirmamos que Git Flow sea incorrecto. Fuentes: https://nvie.com/posts/a-successful-git-branching-model/ y https://trunkbaseddevelopment.com/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Demostrar la plantilla de PR. Una revisión de otra persona todavía debe realizarse en GitHub. La cuenta del autor no puede aprobar su propio PR. Fuente: https://docs.github.com/en/pull-requests/how-tos/review-pull-requests/reviewing-proposed-changes-in-a-pull-request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documentacion/especificaciones/001-tareas/spec.md y relacionar RF01 con validar y la prueba. Los documentos fueron escritos manualmente y no prueban ejecución de Spec Kit. Fuente: https://github.com/github/spec-kit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la secuencia: el navegador envía JSON a /api/tareas, el servidor valida y guarda con parámetros en SQLite, después devuelve JSON. El frontend nunca abre la BD. Usamos Node 24 y Angular 20.3. Fuente de compatibilidad: https://angular.dev/reference/versions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Demostración en vivo: abrir localhost:4200, crear Revisar RF01 con responsable Kevin, editar a En revisión, buscar, recargar y eliminar. Mostrar que los conteos globales no cambian por filtrar. El sistema es una práctica local sin login.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primera prueba roja de esta preparación falló por módulos no implementados. No equivale a probar todos los ciclos TDD. Mostrar un caso concreto de negocio al exponer. Fuente: https://martinfowler.com/bliki/TestDrivenDevelopment.html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calidad.yml. Explicar que un workflow configurado no es una ejecución de GitHub. Al publicarlo, mostrar run real con pasos. El segundo workflow manual usa runner propio y Docker. Fuente: https://docs.github.com/en/actions/tutorials/build-and-test-code/nodejs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qué aceptamos y qué corregimos de una recomendación. Esta entrega se preparó con ChatGPT y no demuestra uso real de Copilot. Documentar una sesión propia de Copilot y la revisión. Fuente: https://docs.github.com/en/copilot/responsible-use/agents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PLAN_EQUIPO.md. La distribución es propuesta y el segundo nombre está pendiente. Cada integrante implementa y revisa cambios del otro. Fuentes: https://docs.github.com/issues/planning-and-tracking-with-projects/learning-about-projects/about-projects y https://docs.github.com/issues/using-labels-and-milestones-to-track-work/about-milestones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tests también se ejecutaron en GitHub Actions. Código: https://github.com/Kevin21JCG/Programacion/tree/feat/gestion-tareas ; PR: https://github.com/Kevin21JCG/Programacion/pull/2 ; ejecución correcta: https://github.com/Kevin21JCG/Programacion/actions/runs/39438736198 . Pendiente la revisión del segundo integrante y las demostraciones de herramientas que correspondan.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Defender la elección de SQLite por facilidad de reproducción. El sistema es local sin control de acceso y usa última escritura en edición. La ampliación empresarial requiere diseño adicional.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Responder las cuatro preguntas del enunciado. Como valoración de la propuesta, Actions es especialmente útil por dar una comprobación común. No afirmar que hubo un estudio comparativo de productividad.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Referencias completas en el informe APA 7. https://git-scm.com/book/en/v2/ ; https://docs.github.com/ ; https://github.com/github/spec-kit ; https://angular.dev/reference/versions ; https://nvie.com/posts/a-successful-git-branching-model/ ; https://trunkbaseddevelopment.com/ ; https://martinfowler.com/bliki/TestDrivenDevelopment.html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dc6635f51243f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6148b0a8234e4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87e142ba9d48d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be0bf9dbd2498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9d00edd7224f9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d007bf9c6a46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62BC05-8877-4F08-8270-C96F8F2559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507D062-A3E9-4096-BE87-F1B7E037DA4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131A3D3-DF50-45C6-9037-75DDE9F4CE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FD2012-3FDC-4183-916E-8EC424B61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67CFAB5-2AD1-49F5-840F-7E51C3D0DB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94F4D05-7810-43F1-BEC3-0239258A05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CEB84AB-688D-46EF-A26E-D4A0086180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FE1ACB5-FB58-4275-9495-F83D81DB08C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1D2E3F-A4A5-4870-9E5D-47412F24FD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AB72D69-9BD2-497F-9C87-AD600FE686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99119f3bec4346" /><Relationship Type="http://schemas.openxmlformats.org/officeDocument/2006/relationships/slideLayout" Target="/ppt/slideLayouts/slideLayout1.xml" Id="R3d85873f2fb64c42" /><Relationship Type="http://schemas.openxmlformats.org/officeDocument/2006/relationships/slideLayout" Target="/ppt/slideLayouts/slideLayout2.xml" Id="R6589d7650a054e59" /><Relationship Type="http://schemas.openxmlformats.org/officeDocument/2006/relationships/slideLayout" Target="/ppt/slideLayouts/slideLayout3.xml" Id="R0731304885c446ff" /><Relationship Type="http://schemas.openxmlformats.org/officeDocument/2006/relationships/slideLayout" Target="/ppt/slideLayouts/slideLayout4.xml" Id="R66fa380f37454510" /><Relationship Type="http://schemas.openxmlformats.org/officeDocument/2006/relationships/slideLayout" Target="/ppt/slideLayouts/slideLayout5.xml" Id="R6cc54fdc9883453f" /><Relationship Type="http://schemas.openxmlformats.org/officeDocument/2006/relationships/slideLayout" Target="/ppt/slideLayouts/slideLayout6.xml" Id="R3e6270b449c54d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85873f2fb64c42"/>
    <p:sldLayoutId xmlns:r="http://schemas.openxmlformats.org/officeDocument/2006/relationships" id="2147483650" r:id="R6589d7650a054e59"/>
    <p:sldLayoutId xmlns:r="http://schemas.openxmlformats.org/officeDocument/2006/relationships" id="2147483651" r:id="R0731304885c446ff"/>
    <p:sldLayoutId xmlns:r="http://schemas.openxmlformats.org/officeDocument/2006/relationships" id="2147483652" r:id="R66fa380f37454510"/>
    <p:sldLayoutId xmlns:r="http://schemas.openxmlformats.org/officeDocument/2006/relationships" id="2147483653" r:id="R6cc54fdc9883453f"/>
    <p:sldLayoutId xmlns:r="http://schemas.openxmlformats.org/officeDocument/2006/relationships" id="2147483654" r:id="R3e6270b449c54d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d7278ac21f402a" /><Relationship Type="http://schemas.openxmlformats.org/officeDocument/2006/relationships/notesSlide" Target="/ppt/notesSlides/notesSlide1.xml" Id="R6b6c01f4274248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fcff6f25ef487f" /><Relationship Type="http://schemas.openxmlformats.org/officeDocument/2006/relationships/notesSlide" Target="/ppt/notesSlides/notesSlide2.xml" Id="R63a1b2597dbf45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8508dd450e4cf3" /><Relationship Type="http://schemas.openxmlformats.org/officeDocument/2006/relationships/notesSlide" Target="/ppt/notesSlides/notesSlide3.xml" Id="R602256f069da49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0d61b5acba4a9e" /><Relationship Type="http://schemas.openxmlformats.org/officeDocument/2006/relationships/notesSlide" Target="/ppt/notesSlides/notesSlide4.xml" Id="R7919ec07dc624a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75f76d4665405a" /><Relationship Type="http://schemas.openxmlformats.org/officeDocument/2006/relationships/notesSlide" Target="/ppt/notesSlides/notesSlide5.xml" Id="R161507603b7c44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e876cd93cc4523" /><Relationship Type="http://schemas.openxmlformats.org/officeDocument/2006/relationships/notesSlide" Target="/ppt/notesSlides/notesSlide6.xml" Id="R610fafea49a947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4f589f71bf40b0" /><Relationship Type="http://schemas.openxmlformats.org/officeDocument/2006/relationships/notesSlide" Target="/ppt/notesSlides/notesSlide7.xml" Id="R3d33703963de46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1dc14828a54223" /><Relationship Type="http://schemas.openxmlformats.org/officeDocument/2006/relationships/notesSlide" Target="/ppt/notesSlides/notesSlide8.xml" Id="Red45b39c472d43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b254b6bb55498b" /><Relationship Type="http://schemas.openxmlformats.org/officeDocument/2006/relationships/notesSlide" Target="/ppt/notesSlides/notesSlide9.xml" Id="R6690549c24ea4c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fd3b9274134c14" /><Relationship Type="http://schemas.openxmlformats.org/officeDocument/2006/relationships/notesSlide" Target="/ppt/notesSlides/notesSlide10.xml" Id="Ra1c542001fff425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4e5cab88914370" /><Relationship Type="http://schemas.openxmlformats.org/officeDocument/2006/relationships/notesSlide" Target="/ppt/notesSlides/notesSlide11.xml" Id="R2f8246aba33d4ce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46dc8efd274aa8" /><Relationship Type="http://schemas.openxmlformats.org/officeDocument/2006/relationships/notesSlide" Target="/ppt/notesSlides/notesSlide12.xml" Id="Rc732a0e6dfd7451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532e58c74a4cdf" /><Relationship Type="http://schemas.openxmlformats.org/officeDocument/2006/relationships/notesSlide" Target="/ppt/notesSlides/notesSlide13.xml" Id="R872233c1453148f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e18ce6f90a4951" /><Relationship Type="http://schemas.openxmlformats.org/officeDocument/2006/relationships/notesSlide" Target="/ppt/notesSlides/notesSlide14.xml" Id="R99d8026bba794fd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e84d2c442c4952" /><Relationship Type="http://schemas.openxmlformats.org/officeDocument/2006/relationships/notesSlide" Target="/ppt/notesSlides/notesSlide15.xml" Id="R83fb84fb619c4ae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e6ea4771434a97" /><Relationship Type="http://schemas.openxmlformats.org/officeDocument/2006/relationships/notesSlide" Target="/ppt/notesSlides/notesSlide16.xml" Id="Rc7c84cae905542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94C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B8F3A4-A94C-4F3A-9651-DEF2F4FE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3CFBC"/>
                </a:solidFill>
                <a:latin typeface="Arial"/>
                <a:ea typeface="Arial"/>
                <a:cs typeface="Arial"/>
              </a:rPr>
              <a:t>PROGRAMACIÓN MÓVIL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942E7-230C-49E3-A054-0678A45D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3CFB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9E2FFE-4D44-46EE-8E8B-207D2035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600" b="1">
                <a:solidFill>
                  <a:srgbClr val="F7F5ED"/>
                </a:solidFill>
                <a:latin typeface="Arial"/>
                <a:ea typeface="Arial"/>
                <a:cs typeface="Arial"/>
              </a:defRPr>
            </a:defPPr>
            <a:lvl1pPr>
              <a:defRPr sz="6600" b="1">
                <a:solidFill>
                  <a:srgbClr val="F7F5ED"/>
                </a:solidFill>
                <a:latin typeface="Arial"/>
                <a:ea typeface="Arial"/>
                <a:cs typeface="Arial"/>
              </a:defRPr>
            </a:lvl1pPr>
            <a:lvl2pPr>
              <a:defRPr sz="6600" b="1">
                <a:solidFill>
                  <a:srgbClr val="F7F5ED"/>
                </a:solidFill>
                <a:latin typeface="Arial"/>
                <a:ea typeface="Arial"/>
                <a:cs typeface="Arial"/>
              </a:defRPr>
            </a:lvl2pPr>
            <a:lvl3pPr>
              <a:defRPr sz="6600" b="1">
                <a:solidFill>
                  <a:srgbClr val="F7F5ED"/>
                </a:solidFill>
                <a:latin typeface="Arial"/>
                <a:ea typeface="Arial"/>
                <a:cs typeface="Arial"/>
              </a:defRPr>
            </a:lvl3pPr>
            <a:lvl4pPr>
              <a:defRPr sz="6600" b="1">
                <a:solidFill>
                  <a:srgbClr val="F7F5ED"/>
                </a:solidFill>
                <a:latin typeface="Arial"/>
                <a:ea typeface="Arial"/>
                <a:cs typeface="Arial"/>
              </a:defRPr>
            </a:lvl4pPr>
            <a:lvl5pPr>
              <a:defRPr sz="6600" b="1">
                <a:solidFill>
                  <a:srgbClr val="F7F5ED"/>
                </a:solidFill>
                <a:latin typeface="Arial"/>
                <a:ea typeface="Arial"/>
                <a:cs typeface="Arial"/>
              </a:defRPr>
            </a:lvl5pPr>
            <a:lvl6pPr>
              <a:defRPr sz="6600" b="1">
                <a:solidFill>
                  <a:srgbClr val="F7F5ED"/>
                </a:solidFill>
                <a:latin typeface="Arial"/>
                <a:ea typeface="Arial"/>
                <a:cs typeface="Arial"/>
              </a:defRPr>
            </a:lvl6pPr>
            <a:lvl7pPr>
              <a:defRPr sz="6600" b="1">
                <a:solidFill>
                  <a:srgbClr val="F7F5ED"/>
                </a:solidFill>
                <a:latin typeface="Arial"/>
                <a:ea typeface="Arial"/>
                <a:cs typeface="Arial"/>
              </a:defRPr>
            </a:lvl7pPr>
            <a:lvl8pPr>
              <a:defRPr sz="6600" b="1">
                <a:solidFill>
                  <a:srgbClr val="F7F5ED"/>
                </a:solidFill>
                <a:latin typeface="Arial"/>
                <a:ea typeface="Arial"/>
                <a:cs typeface="Arial"/>
              </a:defRPr>
            </a:lvl8pPr>
            <a:lvl9pPr>
              <a:defRPr sz="6600" b="1">
                <a:solidFill>
                  <a:srgbClr val="F7F5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600" b="1">
                <a:solidFill>
                  <a:srgbClr val="F7F5ED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F7F5ED"/>
                </a:solidFill>
                <a:latin typeface="Arial"/>
                <a:ea typeface="Arial"/>
                <a:cs typeface="Arial"/>
              </a:rPr>
              <a:t>DevTask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791174-2671-4A50-8D70-60295057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1019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0">
                <a:solidFill>
                  <a:srgbClr val="F7F5ED"/>
                </a:solidFill>
                <a:latin typeface="Arial"/>
                <a:ea typeface="Arial"/>
                <a:cs typeface="Arial"/>
              </a:defRPr>
            </a:defPPr>
            <a:lvl1pPr>
              <a:defRPr sz="3375" b="0">
                <a:solidFill>
                  <a:srgbClr val="F7F5ED"/>
                </a:solidFill>
                <a:latin typeface="Arial"/>
                <a:ea typeface="Arial"/>
                <a:cs typeface="Arial"/>
              </a:defRPr>
            </a:lvl1pPr>
            <a:lvl2pPr>
              <a:defRPr sz="3375" b="0">
                <a:solidFill>
                  <a:srgbClr val="F7F5ED"/>
                </a:solidFill>
                <a:latin typeface="Arial"/>
                <a:ea typeface="Arial"/>
                <a:cs typeface="Arial"/>
              </a:defRPr>
            </a:lvl2pPr>
            <a:lvl3pPr>
              <a:defRPr sz="3375" b="0">
                <a:solidFill>
                  <a:srgbClr val="F7F5ED"/>
                </a:solidFill>
                <a:latin typeface="Arial"/>
                <a:ea typeface="Arial"/>
                <a:cs typeface="Arial"/>
              </a:defRPr>
            </a:lvl3pPr>
            <a:lvl4pPr>
              <a:defRPr sz="3375" b="0">
                <a:solidFill>
                  <a:srgbClr val="F7F5ED"/>
                </a:solidFill>
                <a:latin typeface="Arial"/>
                <a:ea typeface="Arial"/>
                <a:cs typeface="Arial"/>
              </a:defRPr>
            </a:lvl4pPr>
            <a:lvl5pPr>
              <a:defRPr sz="3375" b="0">
                <a:solidFill>
                  <a:srgbClr val="F7F5ED"/>
                </a:solidFill>
                <a:latin typeface="Arial"/>
                <a:ea typeface="Arial"/>
                <a:cs typeface="Arial"/>
              </a:defRPr>
            </a:lvl5pPr>
            <a:lvl6pPr>
              <a:defRPr sz="3375" b="0">
                <a:solidFill>
                  <a:srgbClr val="F7F5ED"/>
                </a:solidFill>
                <a:latin typeface="Arial"/>
                <a:ea typeface="Arial"/>
                <a:cs typeface="Arial"/>
              </a:defRPr>
            </a:lvl6pPr>
            <a:lvl7pPr>
              <a:defRPr sz="3375" b="0">
                <a:solidFill>
                  <a:srgbClr val="F7F5ED"/>
                </a:solidFill>
                <a:latin typeface="Arial"/>
                <a:ea typeface="Arial"/>
                <a:cs typeface="Arial"/>
              </a:defRPr>
            </a:lvl7pPr>
            <a:lvl8pPr>
              <a:defRPr sz="3375" b="0">
                <a:solidFill>
                  <a:srgbClr val="F7F5ED"/>
                </a:solidFill>
                <a:latin typeface="Arial"/>
                <a:ea typeface="Arial"/>
                <a:cs typeface="Arial"/>
              </a:defRPr>
            </a:lvl8pPr>
            <a:lvl9pPr>
              <a:defRPr sz="3375" b="0">
                <a:solidFill>
                  <a:srgbClr val="F7F5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75" b="0">
                <a:solidFill>
                  <a:srgbClr val="F7F5ED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F7F5ED"/>
                </a:solidFill>
                <a:latin typeface="Arial"/>
                <a:ea typeface="Arial"/>
                <a:cs typeface="Arial"/>
              </a:rPr>
              <a:t>Desarrollo de software con especificaciones y GitHub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7881FE-9DC8-4F34-B501-442F4784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95875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3CFBC"/>
                </a:solidFill>
                <a:latin typeface="Arial"/>
                <a:ea typeface="Arial"/>
                <a:cs typeface="Arial"/>
              </a:rPr>
              <a:t>Kevin Jahir Coronel Gaona</a:t>
            </a:r>
          </a:p>
          <a:p xmlns:a="http://schemas.openxmlformats.org/drawingml/2006/main">
            <a:pPr>
              <a:defRPr sz="165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3CFBC"/>
                </a:solidFill>
                <a:latin typeface="Arial"/>
                <a:ea typeface="Arial"/>
                <a:cs typeface="Arial"/>
              </a:rPr>
              <a:t>UTMACH · Programación Móvil</a:t>
            </a:r>
          </a:p>
          <a:p xmlns:a="http://schemas.openxmlformats.org/drawingml/2006/main">
            <a:pPr>
              <a:defRPr sz="165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3CFBC"/>
                </a:solidFill>
                <a:latin typeface="Arial"/>
                <a:ea typeface="Arial"/>
                <a:cs typeface="Arial"/>
              </a:rPr>
              <a:t>Primer parcial</a:t>
            </a:r>
          </a:p>
        </p:txBody>
      </p:sp>
    </p:spTree>
    <p:extLst>
      <p:ext uri="{BB962C8B-B14F-4D97-AF65-F5344CB8AC3E}">
        <p14:creationId xmlns:p14="http://schemas.microsoft.com/office/powerpoint/2010/main" val="13234641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B18EDC-6308-41F7-AF3F-E66679CC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PROGRAMACIÓN MÓVIL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0EEA7-3B4A-4F07-BED8-B0D881BB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9BB8B8-A955-454B-8156-89BBF841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04A38"/>
                </a:solidFill>
                <a:latin typeface="Arial"/>
                <a:ea typeface="Arial"/>
                <a:cs typeface="Arial"/>
              </a:rPr>
              <a:t>El problema de la empresa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DA447-F9A5-41C8-9BDF-04BD366D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5095875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4A38"/>
                </a:solidFill>
                <a:latin typeface="Arial"/>
                <a:ea typeface="Arial"/>
                <a:cs typeface="Arial"/>
              </a:rPr>
              <a:t>Versiones que se pierden</a:t>
            </a:r>
          </a:p>
          <a:p xmlns:a="http://schemas.openxmlformats.org/drawingml/2006/main">
            <a: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4A38"/>
                </a:solidFill>
                <a:latin typeface="Arial"/>
                <a:ea typeface="Arial"/>
                <a:cs typeface="Arial"/>
              </a:rPr>
              <a:t>Cambios sin revisión</a:t>
            </a:r>
          </a:p>
          <a:p xmlns:a="http://schemas.openxmlformats.org/drawingml/2006/main">
            <a: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4A38"/>
                </a:solidFill>
                <a:latin typeface="Arial"/>
                <a:ea typeface="Arial"/>
                <a:cs typeface="Arial"/>
              </a:rPr>
              <a:t>Errores que llegan a producción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583DDD-D2AA-4914-9A26-AA093344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9875"/>
            <a:ext cx="46672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La propuesta conecta cada cambio con su requisito, revisión y prueba.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AE1360-95C4-444F-8220-54C0930E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DevTask  /  Kevin Jahir Coronel Gaona</a:t>
            </a:r>
          </a:p>
        </p:txBody>
      </p:sp>
    </p:spTree>
    <p:extLst>
      <p:ext uri="{BB962C8B-B14F-4D97-AF65-F5344CB8AC3E}">
        <p14:creationId xmlns:p14="http://schemas.microsoft.com/office/powerpoint/2010/main" val="4752450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23B23A-A659-46EB-B8F6-3F71B7E5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PROGRAMACIÓN MÓVIL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ED653E-9F50-4E12-AE4A-101474EE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CBFA25-68B1-4291-8EAA-36D34AA8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04A38"/>
                </a:solidFill>
                <a:latin typeface="Arial"/>
                <a:ea typeface="Arial"/>
                <a:cs typeface="Arial"/>
              </a:rPr>
              <a:t>Control de versiones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3DEAE0-4E10-4F5A-B764-DE72CECB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5095875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4A38"/>
                </a:solidFill>
                <a:latin typeface="Arial"/>
                <a:ea typeface="Arial"/>
                <a:cs typeface="Arial"/>
              </a:rPr>
              <a:t>Git conserva el historial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5BE82-AB9B-48FC-8059-A197FF24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9875"/>
            <a:ext cx="46672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Commits pequeños y comprensibles.</a:t>
            </a:r>
          </a:p>
          <a:p xmlns:a="http://schemas.openxmlformats.org/drawingml/2006/main">
            <a: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Ramas breves para cada cambio.</a:t>
            </a:r>
          </a:p>
          <a:p xmlns:a="http://schemas.openxmlformats.org/drawingml/2006/main">
            <a: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Reversión documentada ante un error.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F2BB73-2348-4D7E-A138-287A686A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DevTask  /  Kevin Jahir Coronel Gaona</a:t>
            </a:r>
          </a:p>
        </p:txBody>
      </p:sp>
    </p:spTree>
    <p:extLst>
      <p:ext uri="{BB962C8B-B14F-4D97-AF65-F5344CB8AC3E}">
        <p14:creationId xmlns:p14="http://schemas.microsoft.com/office/powerpoint/2010/main" val="18057759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D6ACD6-4F5B-47E2-AC36-6B7296CE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PROGRAMACIÓN MÓVIL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E2C42-2309-44AE-A270-26C288AC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5E24F4-18AC-4A35-A86E-5A948ED1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04A38"/>
                </a:solidFill>
                <a:latin typeface="Arial"/>
                <a:ea typeface="Arial"/>
                <a:cs typeface="Arial"/>
              </a:rPr>
              <a:t>Git Flow y Trunk Based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15A0DF-93D5-4BAE-B571-ABBCB943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5095875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4A38"/>
                </a:solidFill>
                <a:latin typeface="Arial"/>
                <a:ea typeface="Arial"/>
                <a:cs typeface="Arial"/>
              </a:rPr>
              <a:t>Git Flow</a:t>
            </a:r>
          </a:p>
          <a:p xmlns:a="http://schemas.openxmlformats.org/drawingml/2006/main">
            <a: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4A38"/>
                </a:solidFill>
                <a:latin typeface="Arial"/>
                <a:ea typeface="Arial"/>
                <a:cs typeface="Arial"/>
              </a:rPr>
              <a:t>Varias líneas de trabajo y ramas de versión.</a:t>
            </a:r>
          </a:p>
          <a:p xmlns:a="http://schemas.openxmlformats.org/drawingml/2006/main">
            <a: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4A38"/>
                </a:solidFill>
                <a:latin typeface="Arial"/>
                <a:ea typeface="Arial"/>
                <a:cs typeface="Arial"/>
              </a:rPr>
              <a:t>Útil al mantener entregas paralelas.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1A7C7E-E6C6-4757-9E47-0CB6C193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9875"/>
            <a:ext cx="46672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Trunk Based</a:t>
            </a:r>
          </a:p>
          <a:p xmlns:a="http://schemas.openxmlformats.org/drawingml/2006/main">
            <a: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Integración frecuente y cambios breves.</a:t>
            </a:r>
          </a:p>
          <a:p xmlns:a="http://schemas.openxmlformats.org/drawingml/2006/main">
            <a: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Propuesta: main y PR pequeños.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9E832E-0D1C-487E-B6E9-5DFE6A19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DevTask  /  Kevin Jahir Coronel Gaona</a:t>
            </a:r>
          </a:p>
        </p:txBody>
      </p:sp>
    </p:spTree>
    <p:extLst>
      <p:ext uri="{BB962C8B-B14F-4D97-AF65-F5344CB8AC3E}">
        <p14:creationId xmlns:p14="http://schemas.microsoft.com/office/powerpoint/2010/main" val="4402961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1C17DD-DB46-4100-98BB-EBDEF5CA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PROGRAMACIÓN MÓVIL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A9B3AA-89A5-4357-9994-F5C561A3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1C5601-9383-48FD-A4EF-D5ACD536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04A38"/>
                </a:solidFill>
                <a:latin typeface="Arial"/>
                <a:ea typeface="Arial"/>
                <a:cs typeface="Arial"/>
              </a:rPr>
              <a:t>Colaboración con Pull Requests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C37CC-C483-4F29-A0F1-BDB6BE5B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5095875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4A38"/>
                </a:solidFill>
                <a:latin typeface="Arial"/>
                <a:ea typeface="Arial"/>
                <a:cs typeface="Arial"/>
              </a:rPr>
              <a:t>El autor explica el cambio.</a:t>
            </a:r>
          </a:p>
          <a:p xmlns:a="http://schemas.openxmlformats.org/drawingml/2006/main">
            <a: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4A38"/>
                </a:solidFill>
                <a:latin typeface="Arial"/>
                <a:ea typeface="Arial"/>
                <a:cs typeface="Arial"/>
              </a:rPr>
              <a:t>El compañero revisa el diff.</a:t>
            </a:r>
          </a:p>
          <a:p xmlns:a="http://schemas.openxmlformats.org/drawingml/2006/main">
            <a: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4A38"/>
                </a:solidFill>
                <a:latin typeface="Arial"/>
                <a:ea typeface="Arial"/>
                <a:cs typeface="Arial"/>
              </a:rPr>
              <a:t>La automatización comprueba el contrato.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2B0F2-9787-4AAB-B9FE-02357FB9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9875"/>
            <a:ext cx="46672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Una revisión útil pregunta:</a:t>
            </a:r>
          </a:p>
          <a:p xmlns:a="http://schemas.openxmlformats.org/drawingml/2006/main">
            <a: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¿La API rechaza un título vacío?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43E2C-17BA-4EF0-A84E-EE9712D6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DevTask  /  Kevin Jahir Coronel Gaona</a:t>
            </a:r>
          </a:p>
        </p:txBody>
      </p:sp>
    </p:spTree>
    <p:extLst>
      <p:ext uri="{BB962C8B-B14F-4D97-AF65-F5344CB8AC3E}">
        <p14:creationId xmlns:p14="http://schemas.microsoft.com/office/powerpoint/2010/main" val="10988903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3FBA5C-1213-4D99-B10D-6C3272E7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PROGRAMACIÓN MÓVIL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4EFDBA-4DC3-4C05-B4DD-7761D6B0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F1338-A49D-4B59-A660-C60D2BAD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04A38"/>
                </a:solidFill>
                <a:latin typeface="Arial"/>
                <a:ea typeface="Arial"/>
                <a:cs typeface="Arial"/>
              </a:rPr>
              <a:t>Especificaciones antes del código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EC5F15-1A8E-4BB5-890E-DD81E5B2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5095875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4A38"/>
                </a:solidFill>
                <a:latin typeface="Arial"/>
                <a:ea typeface="Arial"/>
                <a:cs typeface="Arial"/>
              </a:rPr>
              <a:t>Spec define el comportamiento.</a:t>
            </a:r>
          </a:p>
          <a:p xmlns:a="http://schemas.openxmlformats.org/drawingml/2006/main">
            <a: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4A38"/>
                </a:solidFill>
                <a:latin typeface="Arial"/>
                <a:ea typeface="Arial"/>
                <a:cs typeface="Arial"/>
              </a:rPr>
              <a:t>Plan define la arquitectura.</a:t>
            </a:r>
          </a:p>
          <a:p xmlns:a="http://schemas.openxmlformats.org/drawingml/2006/main">
            <a: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4A38"/>
                </a:solidFill>
                <a:latin typeface="Arial"/>
                <a:ea typeface="Arial"/>
                <a:cs typeface="Arial"/>
              </a:rPr>
              <a:t>Tasks organiza la implementación.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B97EBF-F432-4218-94E8-DD05DBB3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9875"/>
            <a:ext cx="46672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RF01</a:t>
            </a:r>
          </a:p>
          <a:p xmlns:a="http://schemas.openxmlformats.org/drawingml/2006/main">
            <a: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Un título de menos de 3 caracteres devuelve HTTP 400.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FBE87-6407-42E8-953B-FDFF3C72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DevTask  /  Kevin Jahir Coronel Gaona</a:t>
            </a:r>
          </a:p>
        </p:txBody>
      </p:sp>
    </p:spTree>
    <p:extLst>
      <p:ext uri="{BB962C8B-B14F-4D97-AF65-F5344CB8AC3E}">
        <p14:creationId xmlns:p14="http://schemas.microsoft.com/office/powerpoint/2010/main" val="2899928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8F4FB-09FC-4566-A491-71961416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PROGRAMACIÓN MÓVIL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21CE1A-1FCD-465D-B5FE-0AA7DD4C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85EA3-9176-43E4-AB31-64B41433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04A38"/>
                </a:solidFill>
                <a:latin typeface="Arial"/>
                <a:ea typeface="Arial"/>
                <a:cs typeface="Arial"/>
              </a:rPr>
              <a:t>Arquitectura del piloto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229B2B-6D7C-4FC2-8449-3945CDE8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5095875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4A38"/>
                </a:solidFill>
                <a:latin typeface="Arial"/>
                <a:ea typeface="Arial"/>
                <a:cs typeface="Arial"/>
              </a:rPr>
              <a:t>Angular</a:t>
            </a:r>
          </a:p>
          <a:p xmlns:a="http://schemas.openxmlformats.org/drawingml/2006/main">
            <a: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4A38"/>
                </a:solidFill>
                <a:latin typeface="Arial"/>
                <a:ea typeface="Arial"/>
                <a:cs typeface="Arial"/>
              </a:rPr>
              <a:t>Formulario, filtros y tablero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4BE0A-5FC2-4989-8FB9-638D6DA7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9875"/>
            <a:ext cx="46672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API Node.js</a:t>
            </a:r>
          </a:p>
          <a:p xmlns:a="http://schemas.openxmlformats.org/drawingml/2006/main">
            <a: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Validación y operaciones en SQLite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2880D6-672C-43AD-A4F8-0FE527EB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DevTask  /  Kevin Jahir Coronel Gaona</a:t>
            </a:r>
          </a:p>
        </p:txBody>
      </p:sp>
    </p:spTree>
    <p:extLst>
      <p:ext uri="{BB962C8B-B14F-4D97-AF65-F5344CB8AC3E}">
        <p14:creationId xmlns:p14="http://schemas.microsoft.com/office/powerpoint/2010/main" val="6336230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E4AA5-43F6-488A-A573-ACE93C1C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PROGRAMACIÓN MÓVIL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E023B-D96B-4DB7-B423-E550A206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BCA104-7A82-45BC-80E2-7C386C8D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04A38"/>
                </a:solidFill>
                <a:latin typeface="Arial"/>
                <a:ea typeface="Arial"/>
                <a:cs typeface="Arial"/>
              </a:rPr>
              <a:t>DevTask en funcionamiento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FDBD7D-DFCD-483F-8CF7-4E327E93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5095875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4A38"/>
                </a:solidFill>
                <a:latin typeface="Arial"/>
                <a:ea typeface="Arial"/>
                <a:cs typeface="Arial"/>
              </a:rPr>
              <a:t>Crear y asignar tareas</a:t>
            </a:r>
          </a:p>
          <a:p xmlns:a="http://schemas.openxmlformats.org/drawingml/2006/main">
            <a: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4A38"/>
                </a:solidFill>
                <a:latin typeface="Arial"/>
                <a:ea typeface="Arial"/>
                <a:cs typeface="Arial"/>
              </a:rPr>
              <a:t>Buscar por título o responsable</a:t>
            </a:r>
          </a:p>
          <a:p xmlns:a="http://schemas.openxmlformats.org/drawingml/2006/main">
            <a: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4A38"/>
                </a:solidFill>
                <a:latin typeface="Arial"/>
                <a:ea typeface="Arial"/>
                <a:cs typeface="Arial"/>
              </a:rPr>
              <a:t>Cambiar estado y prioridad</a:t>
            </a:r>
          </a:p>
          <a:p xmlns:a="http://schemas.openxmlformats.org/drawingml/2006/main">
            <a: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4A38"/>
                </a:solidFill>
                <a:latin typeface="Arial"/>
                <a:ea typeface="Arial"/>
                <a:cs typeface="Arial"/>
              </a:rPr>
              <a:t>Eliminar con confirmación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24046C-AF22-43AA-9572-84FA664B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9875"/>
            <a:ext cx="46672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Los registros permanecen al reiniciar el servidor.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C033B2-AADE-4E0E-BB16-D93C0687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DevTask  /  Kevin Jahir Coronel Gaona</a:t>
            </a:r>
          </a:p>
        </p:txBody>
      </p:sp>
    </p:spTree>
    <p:extLst>
      <p:ext uri="{BB962C8B-B14F-4D97-AF65-F5344CB8AC3E}">
        <p14:creationId xmlns:p14="http://schemas.microsoft.com/office/powerpoint/2010/main" val="17258689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E7286-2771-4602-A284-9ACB4CBB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PROGRAMACIÓN MÓVIL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FCD62E-D22A-4468-9102-E617BF5F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C61E6-1227-4E3B-B4AC-FDDF7ECA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04A38"/>
                </a:solidFill>
                <a:latin typeface="Arial"/>
                <a:ea typeface="Arial"/>
                <a:cs typeface="Arial"/>
              </a:rPr>
              <a:t>Calidad y TDD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03E5E-8365-43BF-B866-3ECF40D3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5095875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4A38"/>
                </a:solidFill>
                <a:latin typeface="Arial"/>
                <a:ea typeface="Arial"/>
                <a:cs typeface="Arial"/>
              </a:rPr>
              <a:t>Primero una prueba fallida.</a:t>
            </a:r>
          </a:p>
          <a:p xmlns:a="http://schemas.openxmlformats.org/drawingml/2006/main">
            <a: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4A38"/>
                </a:solidFill>
                <a:latin typeface="Arial"/>
                <a:ea typeface="Arial"/>
                <a:cs typeface="Arial"/>
              </a:rPr>
              <a:t>Después la solución mínima.</a:t>
            </a:r>
          </a:p>
          <a:p xmlns:a="http://schemas.openxmlformats.org/drawingml/2006/main">
            <a: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4A38"/>
                </a:solidFill>
                <a:latin typeface="Arial"/>
                <a:ea typeface="Arial"/>
                <a:cs typeface="Arial"/>
              </a:rPr>
              <a:t>Finalmente, refactorización.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DEDD89-AA3E-4FF6-A128-95F3B981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9875"/>
            <a:ext cx="46672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La suite cubre validaciones, CRUD, persistencia y contrato HTTP.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93E303-BD07-4E76-82E1-8757216C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DevTask  /  Kevin Jahir Coronel Gaona</a:t>
            </a:r>
          </a:p>
        </p:txBody>
      </p:sp>
    </p:spTree>
    <p:extLst>
      <p:ext uri="{BB962C8B-B14F-4D97-AF65-F5344CB8AC3E}">
        <p14:creationId xmlns:p14="http://schemas.microsoft.com/office/powerpoint/2010/main" val="7597910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D2DBAC-5BBA-4F31-80FC-D609831A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PROGRAMACIÓN MÓVIL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06F76-62D3-497C-ADDD-8C51D179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B7D73D-AC4F-49DD-8C8F-6B7F8C33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04A38"/>
                </a:solidFill>
                <a:latin typeface="Arial"/>
                <a:ea typeface="Arial"/>
                <a:cs typeface="Arial"/>
              </a:rPr>
              <a:t>Pipeline de calidad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28E132-82EB-4FF8-89D3-F9F2E513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5095875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4A38"/>
                </a:solidFill>
                <a:latin typeface="Arial"/>
                <a:ea typeface="Arial"/>
                <a:cs typeface="Arial"/>
              </a:rPr>
              <a:t>Instalar dependencias</a:t>
            </a:r>
          </a:p>
          <a:p xmlns:a="http://schemas.openxmlformats.org/drawingml/2006/main">
            <a: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4A38"/>
                </a:solidFill>
                <a:latin typeface="Arial"/>
                <a:ea typeface="Arial"/>
                <a:cs typeface="Arial"/>
              </a:rPr>
              <a:t>Ejecutar pruebas</a:t>
            </a:r>
          </a:p>
          <a:p xmlns:a="http://schemas.openxmlformats.org/drawingml/2006/main">
            <a: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4A38"/>
                </a:solidFill>
                <a:latin typeface="Arial"/>
                <a:ea typeface="Arial"/>
                <a:cs typeface="Arial"/>
              </a:rPr>
              <a:t>Compilar Angular</a:t>
            </a:r>
          </a:p>
          <a:p xmlns:a="http://schemas.openxmlformats.org/drawingml/2006/main">
            <a: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4A38"/>
                </a:solidFill>
                <a:latin typeface="Arial"/>
                <a:ea typeface="Arial"/>
                <a:cs typeface="Arial"/>
              </a:rPr>
              <a:t>Levantar y comprobar el build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EA856F-5E4B-4487-868A-E6BEBFD0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9875"/>
            <a:ext cx="46672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El despliegue de prueba es temporal.</a:t>
            </a:r>
          </a:p>
          <a:p xmlns:a="http://schemas.openxmlformats.org/drawingml/2006/main">
            <a: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El laboratorio persistente requiere configuración adicional.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CD9BA-6FB6-4B32-BAF6-FBAAA97A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DevTask  /  Kevin Jahir Coronel Gaona</a:t>
            </a:r>
          </a:p>
        </p:txBody>
      </p:sp>
    </p:spTree>
    <p:extLst>
      <p:ext uri="{BB962C8B-B14F-4D97-AF65-F5344CB8AC3E}">
        <p14:creationId xmlns:p14="http://schemas.microsoft.com/office/powerpoint/2010/main" val="3810193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85218-D98C-4CFC-B1C4-6C13A7C1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PROGRAMACIÓN MÓVIL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B0B952-DD97-4C34-B6C4-A279C4F7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4BAB29-B7B5-41E4-9738-97144BAB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04A38"/>
                </a:solidFill>
                <a:latin typeface="Arial"/>
                <a:ea typeface="Arial"/>
                <a:cs typeface="Arial"/>
              </a:rPr>
              <a:t>Copilot con revisión humana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9FA306-86B7-4245-A641-3DCD8B40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5095875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4A38"/>
                </a:solidFill>
                <a:latin typeface="Arial"/>
                <a:ea typeface="Arial"/>
                <a:cs typeface="Arial"/>
              </a:rPr>
              <a:t>Contexto y requisito</a:t>
            </a:r>
          </a:p>
          <a:p xmlns:a="http://schemas.openxmlformats.org/drawingml/2006/main">
            <a: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4A38"/>
                </a:solidFill>
                <a:latin typeface="Arial"/>
                <a:ea typeface="Arial"/>
                <a:cs typeface="Arial"/>
              </a:rPr>
              <a:t>Restricciones de implementación</a:t>
            </a:r>
          </a:p>
          <a:p xmlns:a="http://schemas.openxmlformats.org/drawingml/2006/main">
            <a: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4A38"/>
                </a:solidFill>
                <a:latin typeface="Arial"/>
                <a:ea typeface="Arial"/>
                <a:cs typeface="Arial"/>
              </a:rPr>
              <a:t>Criterio para verificar la respuesta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A254D4-D165-4286-AC9F-A9047782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9875"/>
            <a:ext cx="46672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Prompt de ejemplo</a:t>
            </a:r>
          </a:p>
          <a:p xmlns:a="http://schemas.openxmlformats.org/drawingml/2006/main">
            <a: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“Revisa RF01 y propone un caso inválido antes de cambiar código”.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CA126E-4D67-42DC-A889-A4B14E1B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DevTask  /  Kevin Jahir Coronel Gaona</a:t>
            </a:r>
          </a:p>
        </p:txBody>
      </p:sp>
    </p:spTree>
    <p:extLst>
      <p:ext uri="{BB962C8B-B14F-4D97-AF65-F5344CB8AC3E}">
        <p14:creationId xmlns:p14="http://schemas.microsoft.com/office/powerpoint/2010/main" val="4989619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4F0B4-7115-4D0E-B9DF-37DBF566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PROGRAMACIÓN MÓVIL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1F3A4A-6513-467C-BEDF-8B82D18B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75632-8CCA-46C4-ACC2-1662509B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04A38"/>
                </a:solidFill>
                <a:latin typeface="Arial"/>
                <a:ea typeface="Arial"/>
                <a:cs typeface="Arial"/>
              </a:rPr>
              <a:t>Organización del equipo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B036D9-9AB9-4FF2-9B5A-9807141F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5095875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4A38"/>
                </a:solidFill>
                <a:latin typeface="Arial"/>
                <a:ea typeface="Arial"/>
                <a:cs typeface="Arial"/>
              </a:rPr>
              <a:t>Issues describen el trabajo.</a:t>
            </a:r>
          </a:p>
          <a:p xmlns:a="http://schemas.openxmlformats.org/drawingml/2006/main">
            <a: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4A38"/>
                </a:solidFill>
                <a:latin typeface="Arial"/>
                <a:ea typeface="Arial"/>
                <a:cs typeface="Arial"/>
              </a:rPr>
              <a:t>Projects muestra su estado.</a:t>
            </a:r>
          </a:p>
          <a:p xmlns:a="http://schemas.openxmlformats.org/drawingml/2006/main">
            <a: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4A38"/>
                </a:solidFill>
                <a:latin typeface="Arial"/>
                <a:ea typeface="Arial"/>
                <a:cs typeface="Arial"/>
              </a:rPr>
              <a:t>Milestones agrupa las entregas.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80632-481A-476B-B4F9-3B921C9C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9875"/>
            <a:ext cx="46672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Dos semanas</a:t>
            </a:r>
          </a:p>
          <a:p xmlns:a="http://schemas.openxmlformats.org/drawingml/2006/main">
            <a: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Especificación, implementación y validación.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76A4B4-DC59-4F2F-B369-57C856D0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DevTask  /  Kevin Jahir Coronel Gaona</a:t>
            </a:r>
          </a:p>
        </p:txBody>
      </p:sp>
    </p:spTree>
    <p:extLst>
      <p:ext uri="{BB962C8B-B14F-4D97-AF65-F5344CB8AC3E}">
        <p14:creationId xmlns:p14="http://schemas.microsoft.com/office/powerpoint/2010/main" val="2580966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8A27E-1C0F-4ACF-9526-A53CBDB3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PROGRAMACIÓN MÓVIL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530D01-137E-4267-9885-99AD5BCD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CC6FBD-8CB4-4181-8D32-841663A5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04A38"/>
                </a:solidFill>
                <a:latin typeface="Arial"/>
                <a:ea typeface="Arial"/>
                <a:cs typeface="Arial"/>
              </a:rPr>
              <a:t>Resultados y límites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6641FB-C8D9-4BD3-9F80-1905DD9A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5095875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4A38"/>
                </a:solidFill>
                <a:latin typeface="Arial"/>
                <a:ea typeface="Arial"/>
                <a:cs typeface="Arial"/>
              </a:rPr>
              <a:t>5 pruebas locales aprobadas</a:t>
            </a:r>
          </a:p>
          <a:p xmlns:a="http://schemas.openxmlformats.org/drawingml/2006/main">
            <a: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4A38"/>
                </a:solidFill>
                <a:latin typeface="Arial"/>
                <a:ea typeface="Arial"/>
                <a:cs typeface="Arial"/>
              </a:rPr>
              <a:t>Build Angular correcto</a:t>
            </a:r>
          </a:p>
          <a:p xmlns:a="http://schemas.openxmlformats.org/drawingml/2006/main">
            <a: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4A38"/>
                </a:solidFill>
                <a:latin typeface="Arial"/>
                <a:ea typeface="Arial"/>
                <a:cs typeface="Arial"/>
              </a:rPr>
              <a:t>Prueba HTTP del build correcta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0572DF-B554-412B-90D6-50CC51DD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9875"/>
            <a:ext cx="46672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Código y PR publicados</a:t>
            </a:r>
          </a:p>
          <a:p xmlns:a="http://schemas.openxmlformats.org/drawingml/2006/main">
            <a: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Actions completado correctamente.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4AE466-30CF-4EC4-901A-249B2436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DevTask  /  Kevin Jahir Coronel Gaona</a:t>
            </a:r>
          </a:p>
        </p:txBody>
      </p:sp>
    </p:spTree>
    <p:extLst>
      <p:ext uri="{BB962C8B-B14F-4D97-AF65-F5344CB8AC3E}">
        <p14:creationId xmlns:p14="http://schemas.microsoft.com/office/powerpoint/2010/main" val="9780713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ADD139-B7D4-45F6-AA90-86BFC087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PROGRAMACIÓN MÓVIL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3F3CF7-0F72-48F2-A93F-0918C0B3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0C0509-272B-4318-9329-0207FE9E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04A38"/>
                </a:solidFill>
                <a:latin typeface="Arial"/>
                <a:ea typeface="Arial"/>
                <a:cs typeface="Arial"/>
              </a:rPr>
              <a:t>Propuesta para la empresa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86D793-5455-4D29-A700-BF4F5755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5095875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4A38"/>
                </a:solidFill>
                <a:latin typeface="Arial"/>
                <a:ea typeface="Arial"/>
                <a:cs typeface="Arial"/>
              </a:rPr>
              <a:t>Un piloto pequeño con trazabilidad.</a:t>
            </a:r>
          </a:p>
          <a:p xmlns:a="http://schemas.openxmlformats.org/drawingml/2006/main">
            <a: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4A38"/>
                </a:solidFill>
                <a:latin typeface="Arial"/>
                <a:ea typeface="Arial"/>
                <a:cs typeface="Arial"/>
              </a:rPr>
              <a:t>Revisión cruzada antes de integrar.</a:t>
            </a:r>
          </a:p>
          <a:p xmlns:a="http://schemas.openxmlformats.org/drawingml/2006/main">
            <a: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4A38"/>
                </a:solidFill>
                <a:latin typeface="Arial"/>
                <a:ea typeface="Arial"/>
                <a:cs typeface="Arial"/>
              </a:rPr>
              <a:t>Verificación automática repetible.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EB270E-B00A-4216-A691-39857BF1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9875"/>
            <a:ext cx="46672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Antes de producción</a:t>
            </a:r>
          </a:p>
          <a:p xmlns:a="http://schemas.openxmlformats.org/drawingml/2006/main">
            <a: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Usuarios, permisos, respaldos y recuperación.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E52C4D-7D53-47D6-A16B-356DEAB5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DevTask  /  Kevin Jahir Coronel Gaona</a:t>
            </a:r>
          </a:p>
        </p:txBody>
      </p:sp>
    </p:spTree>
    <p:extLst>
      <p:ext uri="{BB962C8B-B14F-4D97-AF65-F5344CB8AC3E}">
        <p14:creationId xmlns:p14="http://schemas.microsoft.com/office/powerpoint/2010/main" val="78417746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294C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ABC92-8140-4AAE-A74D-3C739CF5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3CFBC"/>
                </a:solidFill>
                <a:latin typeface="Arial"/>
                <a:ea typeface="Arial"/>
                <a:cs typeface="Arial"/>
              </a:rPr>
              <a:t>PROGRAMACIÓN MÓVIL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312B6C-D39A-47DA-B53C-E76F2C1B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3CFBC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5F196-AF2F-417F-B482-A6A93550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7F5ED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F7F5ED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F7F5ED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F7F5ED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F7F5ED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F7F5ED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F7F5ED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F7F5ED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F7F5ED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F7F5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7F5E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7F5ED"/>
                </a:solidFill>
                <a:latin typeface="Arial"/>
                <a:ea typeface="Arial"/>
                <a:cs typeface="Arial"/>
              </a:rPr>
              <a:t>Reflexión y conclusiones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235095-661E-459D-998D-23514452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5095875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F7F5ED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F7F5ED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F7F5ED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F7F5ED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F7F5ED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F7F5ED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F7F5ED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F7F5ED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F7F5ED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F7F5E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7F5E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7F5ED"/>
                </a:solidFill>
                <a:latin typeface="Arial"/>
                <a:ea typeface="Arial"/>
                <a:cs typeface="Arial"/>
              </a:rPr>
              <a:t>Git permite recuperar la historia.</a:t>
            </a:r>
          </a:p>
          <a:p xmlns:a="http://schemas.openxmlformats.org/drawingml/2006/main">
            <a:pPr>
              <a:defRPr sz="2250" b="0">
                <a:solidFill>
                  <a:srgbClr val="F7F5E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7F5ED"/>
                </a:solidFill>
                <a:latin typeface="Arial"/>
                <a:ea typeface="Arial"/>
                <a:cs typeface="Arial"/>
              </a:rPr>
              <a:t>DevOps hace repetible la entrega.</a:t>
            </a:r>
          </a:p>
          <a:p xmlns:a="http://schemas.openxmlformats.org/drawingml/2006/main">
            <a:pPr>
              <a:defRPr sz="2250" b="0">
                <a:solidFill>
                  <a:srgbClr val="F7F5E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7F5ED"/>
                </a:solidFill>
                <a:latin typeface="Arial"/>
                <a:ea typeface="Arial"/>
                <a:cs typeface="Arial"/>
              </a:rPr>
              <a:t>La IA exige revisar y comprobar.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39226-67F4-4979-A403-89CE80CB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9875"/>
            <a:ext cx="46672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C3CFBC"/>
                </a:solidFill>
                <a:latin typeface="Arial"/>
                <a:ea typeface="Arial"/>
                <a:cs typeface="Arial"/>
              </a:rPr>
              <a:t>El criterio de éxito es poder explicar y verificar cada cambio.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1B56A2-E9BB-4BEF-86CB-FE453110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C3CFB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3CFBC"/>
                </a:solidFill>
                <a:latin typeface="Arial"/>
                <a:ea typeface="Arial"/>
                <a:cs typeface="Arial"/>
              </a:rPr>
              <a:t>DevTask  /  Kevin Jahir Coronel Gaona</a:t>
            </a:r>
          </a:p>
        </p:txBody>
      </p:sp>
    </p:spTree>
    <p:extLst>
      <p:ext uri="{BB962C8B-B14F-4D97-AF65-F5344CB8AC3E}">
        <p14:creationId xmlns:p14="http://schemas.microsoft.com/office/powerpoint/2010/main" val="167852003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11C0C5-7512-4AB9-9EC9-7BB28EEC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PROGRAMACIÓN MÓVIL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2DFDB9-67B3-4576-B78D-0DE2215B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191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E03B7D-6712-46CF-91FC-F9B5893A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04A38"/>
                </a:solidFill>
                <a:latin typeface="Arial"/>
                <a:ea typeface="Arial"/>
                <a:cs typeface="Arial"/>
              </a:rPr>
              <a:t>Fuentes principales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113E77-85BF-4A0D-840E-42F1DBF8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5095875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4A38"/>
                </a:solidFill>
                <a:latin typeface="Arial"/>
                <a:ea typeface="Arial"/>
                <a:cs typeface="Arial"/>
              </a:rPr>
              <a:t>Git y Pro Git</a:t>
            </a:r>
          </a:p>
          <a:p xmlns:a="http://schemas.openxmlformats.org/drawingml/2006/main">
            <a: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4A38"/>
                </a:solidFill>
                <a:latin typeface="Arial"/>
                <a:ea typeface="Arial"/>
                <a:cs typeface="Arial"/>
              </a:rPr>
              <a:t>GitHub Docs y GitHub Spec Kit</a:t>
            </a:r>
          </a:p>
          <a:p xmlns:a="http://schemas.openxmlformats.org/drawingml/2006/main">
            <a:pPr>
              <a:defRPr sz="2250" b="0">
                <a:solidFill>
                  <a:srgbClr val="304A3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4A38"/>
                </a:solidFill>
                <a:latin typeface="Arial"/>
                <a:ea typeface="Arial"/>
                <a:cs typeface="Arial"/>
              </a:rPr>
              <a:t>Documentación oficial de Angular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F3C5B5-F329-49DB-837A-6C19EAF7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9875"/>
            <a:ext cx="46672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Driessen sobre Git Flow</a:t>
            </a:r>
          </a:p>
          <a:p xmlns:a="http://schemas.openxmlformats.org/drawingml/2006/main">
            <a: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Trunk Based Development</a:t>
            </a:r>
          </a:p>
          <a:p xmlns:a="http://schemas.openxmlformats.org/drawingml/2006/main">
            <a:pPr>
              <a:defRPr sz="2250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Fowler sobre TDD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C55E18-7902-4001-87C3-E27CCB1B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72816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2816A"/>
                </a:solidFill>
                <a:latin typeface="Arial"/>
                <a:ea typeface="Arial"/>
                <a:cs typeface="Arial"/>
              </a:rPr>
              <a:t>DevTask  /  Kevin Jahir Coronel Gaona</a:t>
            </a:r>
          </a:p>
        </p:txBody>
      </p:sp>
    </p:spTree>
    <p:extLst>
      <p:ext uri="{BB962C8B-B14F-4D97-AF65-F5344CB8AC3E}">
        <p14:creationId xmlns:p14="http://schemas.microsoft.com/office/powerpoint/2010/main" val="21343565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2026-10-20T14:25:19.3010000Z</dcterms:created>
  <dcterms:modified xsi:type="dcterms:W3CDTF">2026-10-20T14:25:19.3010000Z</dcterms:modified>
</coreProperties>
</file>